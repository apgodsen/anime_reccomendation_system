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Pacifico"/>
      <p:regular r:id="rId20"/>
    </p:embeddedFont>
    <p:embeddedFont>
      <p:font typeface="Space Grotesk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cifico-regular.fntdata"/><Relationship Id="rId11" Type="http://schemas.openxmlformats.org/officeDocument/2006/relationships/slide" Target="slides/slide6.xml"/><Relationship Id="rId22" Type="http://schemas.openxmlformats.org/officeDocument/2006/relationships/font" Target="fonts/SpaceGrotesk-bold.fntdata"/><Relationship Id="rId10" Type="http://schemas.openxmlformats.org/officeDocument/2006/relationships/slide" Target="slides/slide5.xml"/><Relationship Id="rId21" Type="http://schemas.openxmlformats.org/officeDocument/2006/relationships/font" Target="fonts/SpaceGrotes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db4447b7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db4447b7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db4447b78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db4447b78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e265ff0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e265ff0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168532e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168532e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168532e65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168532e65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db4447b7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db4447b7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e265ff0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e265ff0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265ff08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e265ff08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e265ff08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e265ff08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2" name="Google Shape;52;p13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3" name="Google Shape;53;p13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3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" name="Google Shape;61;p13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63" name="Google Shape;63;p13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66" name="Google Shape;66;p13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2" name="Google Shape;72;p13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6" name="Google Shape;76;p13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78" name="Google Shape;78;p13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ctrTitle"/>
          </p:nvPr>
        </p:nvSpPr>
        <p:spPr>
          <a:xfrm>
            <a:off x="-57525" y="2970725"/>
            <a:ext cx="5049300" cy="99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latin typeface="Pacifico"/>
                <a:ea typeface="Pacifico"/>
                <a:cs typeface="Pacifico"/>
                <a:sym typeface="Pacifico"/>
              </a:rPr>
              <a:t>Enhancing Streaming Recommendations Using NLP</a:t>
            </a:r>
            <a:endParaRPr sz="6100"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84" name="Google Shape;84;p14"/>
          <p:cNvSpPr txBox="1"/>
          <p:nvPr>
            <p:ph idx="1" type="subTitle"/>
          </p:nvPr>
        </p:nvSpPr>
        <p:spPr>
          <a:xfrm>
            <a:off x="0" y="4041850"/>
            <a:ext cx="4830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120">
                <a:solidFill>
                  <a:srgbClr val="273540"/>
                </a:solidFill>
                <a:latin typeface="Pacifico"/>
                <a:ea typeface="Pacifico"/>
                <a:cs typeface="Pacifico"/>
                <a:sym typeface="Pacifico"/>
              </a:rPr>
              <a:t>Abby Godsen, Jose Contreras, Alvin Hampton &amp; Regan Fleetwood</a:t>
            </a:r>
            <a:endParaRPr sz="1120">
              <a:solidFill>
                <a:srgbClr val="273540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3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idx="4294967295" type="subTitle"/>
          </p:nvPr>
        </p:nvSpPr>
        <p:spPr>
          <a:xfrm>
            <a:off x="2719550" y="1865425"/>
            <a:ext cx="22080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1. </a:t>
            </a:r>
            <a:r>
              <a:rPr lang="en" sz="1200">
                <a:solidFill>
                  <a:schemeClr val="dk1"/>
                </a:solidFill>
              </a:rPr>
              <a:t>Introduce the Problem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" name="Google Shape;90;p15"/>
          <p:cNvSpPr txBox="1"/>
          <p:nvPr>
            <p:ph type="title"/>
          </p:nvPr>
        </p:nvSpPr>
        <p:spPr>
          <a:xfrm>
            <a:off x="3288625" y="250225"/>
            <a:ext cx="276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91" name="Google Shape;91;p15"/>
          <p:cNvSpPr txBox="1"/>
          <p:nvPr>
            <p:ph idx="4294967295" type="subTitle"/>
          </p:nvPr>
        </p:nvSpPr>
        <p:spPr>
          <a:xfrm>
            <a:off x="228600" y="1566680"/>
            <a:ext cx="256800" cy="1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1</a:t>
            </a:r>
            <a:endParaRPr sz="1200"/>
          </a:p>
        </p:txBody>
      </p:sp>
      <p:sp>
        <p:nvSpPr>
          <p:cNvPr id="92" name="Google Shape;92;p15"/>
          <p:cNvSpPr txBox="1"/>
          <p:nvPr>
            <p:ph idx="4294967295" type="subTitle"/>
          </p:nvPr>
        </p:nvSpPr>
        <p:spPr>
          <a:xfrm>
            <a:off x="2719550" y="2794650"/>
            <a:ext cx="2208000" cy="1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3. </a:t>
            </a:r>
            <a:r>
              <a:rPr lang="en" sz="1200">
                <a:solidFill>
                  <a:schemeClr val="dk1"/>
                </a:solidFill>
              </a:rPr>
              <a:t>Project Pt 2: Sentiment/Genre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3" name="Google Shape;93;p15"/>
          <p:cNvSpPr txBox="1"/>
          <p:nvPr>
            <p:ph idx="4294967295" type="subTitle"/>
          </p:nvPr>
        </p:nvSpPr>
        <p:spPr>
          <a:xfrm>
            <a:off x="4640875" y="2779527"/>
            <a:ext cx="28182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7. Results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4" name="Google Shape;94;p15"/>
          <p:cNvSpPr txBox="1"/>
          <p:nvPr>
            <p:ph idx="4294967295" type="subTitle"/>
          </p:nvPr>
        </p:nvSpPr>
        <p:spPr>
          <a:xfrm>
            <a:off x="4640875" y="1850325"/>
            <a:ext cx="18774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5. Project Pt. 4: Function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5" name="Google Shape;95;p15"/>
          <p:cNvSpPr txBox="1"/>
          <p:nvPr>
            <p:ph idx="4294967295" type="subTitle"/>
          </p:nvPr>
        </p:nvSpPr>
        <p:spPr>
          <a:xfrm>
            <a:off x="2742650" y="2265825"/>
            <a:ext cx="21618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2. </a:t>
            </a:r>
            <a:r>
              <a:rPr lang="en" sz="1200">
                <a:solidFill>
                  <a:schemeClr val="dk1"/>
                </a:solidFill>
              </a:rPr>
              <a:t>Project Pt 1: Data Cleaning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6" name="Google Shape;96;p15"/>
          <p:cNvSpPr txBox="1"/>
          <p:nvPr>
            <p:ph idx="4294967295" type="subTitle"/>
          </p:nvPr>
        </p:nvSpPr>
        <p:spPr>
          <a:xfrm>
            <a:off x="228600" y="2435848"/>
            <a:ext cx="256800" cy="1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7" name="Google Shape;97;p15"/>
          <p:cNvSpPr txBox="1"/>
          <p:nvPr>
            <p:ph idx="4294967295" type="subTitle"/>
          </p:nvPr>
        </p:nvSpPr>
        <p:spPr>
          <a:xfrm>
            <a:off x="4640875" y="2322464"/>
            <a:ext cx="28182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6. Demonstration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8" name="Google Shape;98;p15"/>
          <p:cNvSpPr txBox="1"/>
          <p:nvPr>
            <p:ph idx="4294967295" type="subTitle"/>
          </p:nvPr>
        </p:nvSpPr>
        <p:spPr>
          <a:xfrm>
            <a:off x="2742650" y="3349874"/>
            <a:ext cx="1683000" cy="1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4. </a:t>
            </a:r>
            <a:r>
              <a:rPr lang="en" sz="1200">
                <a:solidFill>
                  <a:schemeClr val="dk1"/>
                </a:solidFill>
              </a:rPr>
              <a:t>Project Pt. 3: TF-IDF and Cosine Similarity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9" name="Google Shape;99;p15"/>
          <p:cNvSpPr txBox="1"/>
          <p:nvPr>
            <p:ph idx="4294967295" type="subTitle"/>
          </p:nvPr>
        </p:nvSpPr>
        <p:spPr>
          <a:xfrm>
            <a:off x="4572000" y="3293225"/>
            <a:ext cx="2026500" cy="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8. Limitations and Future Works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the Problem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152475"/>
            <a:ext cx="596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333"/>
              <a:buFont typeface="Roboto"/>
              <a:buChar char="▪"/>
            </a:pPr>
            <a:r>
              <a:rPr lang="en" sz="1500">
                <a:solidFill>
                  <a:schemeClr val="dk1"/>
                </a:solidFill>
              </a:rPr>
              <a:t>Cold Start problem occurs in the online streaming services when a new or less active user has no or scarce viewing history.</a:t>
            </a:r>
            <a:endParaRPr sz="15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333"/>
              <a:buFont typeface="Roboto"/>
              <a:buChar char="▪"/>
            </a:pPr>
            <a:r>
              <a:rPr lang="en" sz="1500">
                <a:solidFill>
                  <a:schemeClr val="dk1"/>
                </a:solidFill>
              </a:rPr>
              <a:t>Classic memory based CF approach fails due to sparse matrix of user-item interactions leading to generic or popularity based recommendations only.</a:t>
            </a:r>
            <a:endParaRPr sz="15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333"/>
              <a:buFont typeface="Roboto"/>
              <a:buChar char="▪"/>
            </a:pPr>
            <a:r>
              <a:rPr lang="en" sz="1500">
                <a:solidFill>
                  <a:schemeClr val="dk1"/>
                </a:solidFill>
              </a:rPr>
              <a:t>Users in majority can usually mention at least one show they like, current solutions do not know how to make use of this information.</a:t>
            </a:r>
            <a:endParaRPr sz="15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333"/>
              <a:buFont typeface="Roboto"/>
              <a:buChar char="▪"/>
            </a:pPr>
            <a:r>
              <a:rPr lang="en" sz="1500">
                <a:solidFill>
                  <a:schemeClr val="dk1"/>
                </a:solidFill>
              </a:rPr>
              <a:t>Need for a transparent, fast and content-based recommendation system that would be able to give personalization out of the gate, from the first session.</a:t>
            </a:r>
            <a:endParaRPr sz="15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ct val="93333"/>
              <a:buFont typeface="Roboto"/>
              <a:buChar char="▪"/>
            </a:pPr>
            <a:r>
              <a:rPr lang="en" sz="1500">
                <a:solidFill>
                  <a:schemeClr val="dk1"/>
                </a:solidFill>
              </a:rPr>
              <a:t>Our project provides solution by recommending similar anime titles using NLP techniques (TF-IDF, sentiment analysis, genre matching).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 and Genre Similarity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1152475"/>
            <a:ext cx="8104500" cy="30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Char char="●"/>
            </a:pPr>
            <a:r>
              <a:rPr lang="en" sz="1600">
                <a:solidFill>
                  <a:srgbClr val="273540"/>
                </a:solidFill>
              </a:rPr>
              <a:t>Utilizing a MultiLabelBinarizer, the genre was encoded to be more easily comparable and to make it easier to create a combined score. </a:t>
            </a:r>
            <a:endParaRPr sz="1600">
              <a:solidFill>
                <a:srgbClr val="27354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Char char="●"/>
            </a:pPr>
            <a:r>
              <a:rPr lang="en" sz="1600">
                <a:solidFill>
                  <a:srgbClr val="273540"/>
                </a:solidFill>
              </a:rPr>
              <a:t>Sentiment scores were created using a Sentiment Intensity Analyzer. The genre score and sentiment scores were combined into a single feature, then normalized. </a:t>
            </a:r>
            <a:endParaRPr sz="1600">
              <a:solidFill>
                <a:srgbClr val="27354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Char char="●"/>
            </a:pPr>
            <a:r>
              <a:rPr lang="en" sz="1600">
                <a:solidFill>
                  <a:srgbClr val="273540"/>
                </a:solidFill>
              </a:rPr>
              <a:t>Finally, columns were added to the dataset for the genre score, sentiment score, and the final combined score values for easier comparison.</a:t>
            </a:r>
            <a:endParaRPr sz="1600">
              <a:solidFill>
                <a:srgbClr val="27354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600"/>
              <a:buChar char="●"/>
            </a:pPr>
            <a:r>
              <a:rPr lang="en" sz="1600">
                <a:solidFill>
                  <a:srgbClr val="273540"/>
                </a:solidFill>
              </a:rPr>
              <a:t>Combined scores are a combination of a 0-1 value for sentiment and a whole number value for genre. </a:t>
            </a:r>
            <a:endParaRPr sz="1600">
              <a:solidFill>
                <a:srgbClr val="27354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TF-IDF and Cosine Similarity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238575" y="883650"/>
            <a:ext cx="53502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TF-IDF vectorization was done on the synopsis column of our cleaned dataset to get what each anime is about for further analysis.</a:t>
            </a:r>
            <a:endParaRPr sz="1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Numerical columns like ratings, sentiment, and episodes were then scaled to be in a similar range as the TF-IDF matrix. This was done to help ensure that all features would help contribute more evenly to the final similarity calculation. </a:t>
            </a:r>
            <a:endParaRPr sz="1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These scaled numerical features were combined with the TF-IDF matrix to form a single matrix that factors in not only the synopsis of each anime, but also its rating, number of episodes, and sentiment. As a way to get a more in-depth recommendation.</a:t>
            </a:r>
            <a:endParaRPr sz="1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Cosine similarity was performed on the new combined matrix to create a similarity matrix displaying how similar each anime is to one another.</a:t>
            </a:r>
            <a:endParaRPr sz="13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FUNCTION pt1:  (Cover Art </a:t>
            </a:r>
            <a:r>
              <a:rPr lang="en"/>
              <a:t>Fetch</a:t>
            </a:r>
            <a:r>
              <a:rPr lang="en"/>
              <a:t>)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152475"/>
            <a:ext cx="642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Arguments: dataframe, anime </a:t>
            </a:r>
            <a:r>
              <a:rPr lang="en">
                <a:solidFill>
                  <a:schemeClr val="dk1"/>
                </a:solidFill>
              </a:rPr>
              <a:t>title</a:t>
            </a:r>
            <a:r>
              <a:rPr lang="en">
                <a:solidFill>
                  <a:schemeClr val="dk1"/>
                </a:solidFill>
              </a:rPr>
              <a:t>, new column title, wait time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Dual API approach: first api attempts to collect as many anime images as possible and if any are not found the second API then tries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Rapidfuzz is used for matching purposes to help search for </a:t>
            </a:r>
            <a:r>
              <a:rPr lang="en">
                <a:solidFill>
                  <a:schemeClr val="dk1"/>
                </a:solidFill>
              </a:rPr>
              <a:t>anime</a:t>
            </a:r>
            <a:r>
              <a:rPr lang="en">
                <a:solidFill>
                  <a:schemeClr val="dk1"/>
                </a:solidFill>
              </a:rPr>
              <a:t> titles within the API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Wait time is used between searches to prevent API request limits being reached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Returns the given dataframe with the new column populated by image urls of each anime within the </a:t>
            </a:r>
            <a:r>
              <a:rPr lang="en">
                <a:solidFill>
                  <a:schemeClr val="dk1"/>
                </a:solidFill>
              </a:rPr>
              <a:t>dataset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311700" y="318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FUNCTION pt2: (Game Recommendation)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3546050" y="1152475"/>
            <a:ext cx="494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inputs an anime title and the function searches for title within the data (designed to be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insensitive)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Checks if the provided title exists in the dataset. If not, it returns an error message.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exists, it will get the similarity score of each  anime title within the cosine similarity matrix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similarity scores are then sorted in order, related to the specific title and the 3 most similar anime titles and similarity scores are then displayed along with the cover art of each anime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A5A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1000" y="1152475"/>
            <a:ext cx="2861300" cy="3416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5"/>
            <a:ext cx="2798000" cy="3416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9700" y="1152475"/>
            <a:ext cx="28613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Limitations/Future Work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152475"/>
            <a:ext cx="609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Limitations</a:t>
            </a:r>
            <a:endParaRPr u="sng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Limited by the animes that are currently in the dataset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ser inputs are also limited by what is currently available in the dataset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Limited in functionality because users already need to have an anime in mind to generate similar results. e.g. users couldn’t get recommendations for “action animes”.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Future Work</a:t>
            </a:r>
            <a:endParaRPr u="sng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Using a similar method, this code could be reused in a variety for a variety of other mediums like movies or books as long as the naming conventions were maintained across datasets.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